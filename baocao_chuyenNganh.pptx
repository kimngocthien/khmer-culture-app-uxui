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0FA47-8B15-437F-B746-4611B2E50E7E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FC3B5-3211-45B9-A75F-21C4D8AB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6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75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24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471"/>
            <a:ext cx="9144000" cy="5715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0" y="896533"/>
            <a:ext cx="9144000" cy="8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187" y="733310"/>
            <a:ext cx="8797624" cy="3394927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bg1"/>
                </a:solidFill>
              </a:rPr>
              <a:t>THỰC TẬP ĐỒ ÁN CHUYÊN NGÀNH</a:t>
            </a:r>
            <a:br>
              <a:rPr lang="vi-VN">
                <a:solidFill>
                  <a:schemeClr val="bg1"/>
                </a:solidFill>
              </a:rPr>
            </a:br>
            <a:r>
              <a:rPr lang="en-US" b="1">
                <a:solidFill>
                  <a:schemeClr val="bg1"/>
                </a:solidFill>
              </a:rPr>
              <a:t>HỌC KỲ I, NĂM HỌC 2025-2026</a:t>
            </a:r>
            <a:br>
              <a:rPr lang="vi-VN"/>
            </a:br>
            <a:br>
              <a:rPr lang="vi-VN" sz="42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sz="27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ĐỀ TÀI:</a:t>
            </a:r>
            <a:r>
              <a:rPr lang="en-US" sz="2700" b="1">
                <a:solidFill>
                  <a:schemeClr val="bg1"/>
                </a:solidFill>
              </a:rPr>
              <a:t>THIẾT KẾ ỨNG DỤNG HỖ TRỢ NÂNG CAO KIẾN THỨC VĂN HÓA – TÍN NGƯỠNG – TÔN GIÁO CỦA NGƯỜI KHMER NAM BỘ THEO QUY TRÌNH THIẾT KẾ LẤY NGƯỜI DÙNG LÀM TRUNG TÂM</a:t>
            </a:r>
            <a:br>
              <a:rPr lang="vi-VN" sz="2700">
                <a:solidFill>
                  <a:schemeClr val="bg1"/>
                </a:solidFill>
              </a:rPr>
            </a:br>
            <a:endParaRPr lang="vi-VN" sz="27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599"/>
            <a:ext cx="9144000" cy="9144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EFB5EE-E859-7324-621D-86F82EB216E9}"/>
              </a:ext>
            </a:extLst>
          </p:cNvPr>
          <p:cNvSpPr txBox="1"/>
          <p:nvPr/>
        </p:nvSpPr>
        <p:spPr>
          <a:xfrm>
            <a:off x="418731" y="4659297"/>
            <a:ext cx="3002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i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Giảng viên hướng dẫn:</a:t>
            </a:r>
            <a:endParaRPr lang="vi-VN" sz="180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TS. Thạch Kọng Saoane</a:t>
            </a:r>
            <a:endParaRPr lang="vi-VN" sz="180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CC5190-0AB9-89A3-A135-3903CF271C47}"/>
              </a:ext>
            </a:extLst>
          </p:cNvPr>
          <p:cNvSpPr txBox="1"/>
          <p:nvPr/>
        </p:nvSpPr>
        <p:spPr>
          <a:xfrm>
            <a:off x="6050526" y="4611654"/>
            <a:ext cx="45793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i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Sinh viên thực hiện:</a:t>
            </a:r>
            <a:endParaRPr lang="vi-VN" sz="180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Họ tên:Kim Ngọc Thiện</a:t>
            </a:r>
            <a:endParaRPr lang="vi-VN" sz="180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MSSV:110122164</a:t>
            </a:r>
            <a:endParaRPr lang="vi-VN" sz="180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Lớp:DA22TTC</a:t>
            </a:r>
            <a:endParaRPr lang="vi-VN" sz="180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NỘI DUNG</a:t>
            </a:r>
            <a:endParaRPr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120" y="1310640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Mở đầu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HIỆN THỰC HÓA NGHIÊN CỨU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NGHIÊN CỨU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Tài liệu tham khảo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7A5E-AF2F-0B38-4D5E-92F3BD611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Mở đầu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3A6AB-0B55-D85A-FBCA-19D6A0D2E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6348"/>
            <a:ext cx="8539316" cy="47398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vi-VN" b="1">
                <a:latin typeface="+mj-lt"/>
              </a:rPr>
              <a:t>1. Lý do chọn đề tài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Văn hóa Khmer Nam Bộ là bộ phận quan trọng của văn hóa Việt Nam, giàu giá trị về lễ hội, kiến trúc, tín ngưỡng và nghệ thuật.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Nguồn tài liệu về văn hóa Khmer hiện còn phân tán, thiếu hệ thống và khó tiếp cận, đặc biệt với giới trẻ.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Internet và mạng xã hội phát triển nhưng chưa có nền tảng chuyên biệt, chính thống về văn hóa Khmer.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Nguy cơ mai một giá trị văn hóa nếu không có giải pháp truyền thông – giáo dục phù hợp.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Nhu cầu thực tế từ người trẻ về một ứng dụng trực quan, dễ dùng, có hình ảnh – video minh họa.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Vì vậy, đề tài được chọn nhằm thiết kế ứng dụng tìm hiểu văn hóa – tín ngưỡng – tôn giáo Khmer Nam Bộ theo hướng lấy người dùng làm trung tâm, góp phần bảo tồn và lan tỏa giá trị văn hóa.</a:t>
            </a:r>
          </a:p>
          <a:p>
            <a:endParaRPr lang="vi-VN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8095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34A26-82F5-4680-8B7A-0D1C69CD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Mở đầu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2E20B-7A9A-55A2-9753-386E89B0C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80323" cy="4525963"/>
          </a:xfrm>
        </p:spPr>
        <p:txBody>
          <a:bodyPr/>
          <a:lstStyle/>
          <a:p>
            <a:pPr marL="0" indent="0">
              <a:buNone/>
            </a:pPr>
            <a:r>
              <a:rPr lang="vi-VN" sz="2200" b="1">
                <a:latin typeface="+mj-lt"/>
              </a:rPr>
              <a:t>2. Mục đích nghiên cứu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sz="2200">
                <a:latin typeface="+mj-lt"/>
              </a:rPr>
              <a:t>Khảo sát thực trạng tiếp cận thông tin văn hóa Khmer của người dùng.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sz="2200">
                <a:latin typeface="+mj-lt"/>
              </a:rPr>
              <a:t>Xác định nhu cầu, mong đợi và khó khăn của các nhóm người dùng.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sz="2200">
                <a:latin typeface="+mj-lt"/>
              </a:rPr>
              <a:t>Thiết kế giao diện và trải nghiệm người dùng (UX/UI) cho ứng dụng văn hóa Khmer.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 sz="2200">
                <a:latin typeface="+mj-lt"/>
              </a:rPr>
              <a:t>Đề xuất giải pháp giúp tra cứu văn hóa Khmer dễ dàng, trực quan và hiệu quả.</a:t>
            </a:r>
          </a:p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40865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6393-AC55-C3CC-5FE7-1321FFBE2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635E0-0717-B480-0B8D-2C4156E91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717" y="1600200"/>
            <a:ext cx="8627806" cy="4525963"/>
          </a:xfrm>
        </p:spPr>
        <p:txBody>
          <a:bodyPr/>
          <a:lstStyle/>
          <a:p>
            <a:pPr marL="0" indent="0">
              <a:buNone/>
            </a:pPr>
            <a:r>
              <a:rPr lang="vi-VN" b="1">
                <a:latin typeface="+mj-lt"/>
              </a:rPr>
              <a:t>3. Đối tượng nghiên cứu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Người dùng quan tâm đến văn hóa Khmer Nam Bộ: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>
                <a:latin typeface="+mj-lt"/>
              </a:rPr>
              <a:t>Sinh viên người Khmer và người Việt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>
                <a:latin typeface="+mj-lt"/>
              </a:rPr>
              <a:t>Người dân Khmer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>
                <a:latin typeface="+mj-lt"/>
              </a:rPr>
              <a:t>Nhóm quan tâm văn hóa – du lịch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Tài liệu về lễ hội, kiến trúc, tôn giáo, phong tục Khmer.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Các mô hình và giải pháp thiết kế UX/UI trong lĩnh vực văn hóa.</a:t>
            </a:r>
          </a:p>
          <a:p>
            <a:endParaRPr lang="vi-VN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3091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70D3C-4223-486A-E419-98B09CF1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5898E-A9FF-FE33-F3FD-84DB938BE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21329" cy="4525963"/>
          </a:xfrm>
        </p:spPr>
        <p:txBody>
          <a:bodyPr/>
          <a:lstStyle/>
          <a:p>
            <a:pPr marL="0" indent="0">
              <a:buNone/>
            </a:pPr>
            <a:r>
              <a:rPr lang="vi-VN" b="1">
                <a:latin typeface="+mj-lt"/>
              </a:rPr>
              <a:t>4. Phạm vi nghiên cứu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Nội dung tập trung vào: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>
                <a:latin typeface="+mj-lt"/>
              </a:rPr>
              <a:t>Lễ hội truyền thống (Ok Om Bok, Chol Chnam Thmay, Sen Dolta…)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>
                <a:latin typeface="+mj-lt"/>
              </a:rPr>
              <a:t>Kiến trúc và biểu tượng chùa Khmer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>
                <a:latin typeface="+mj-lt"/>
              </a:rPr>
              <a:t>Nghi lễ Phật giáo Nam Tông Khmer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>
                <a:latin typeface="+mj-lt"/>
              </a:rPr>
              <a:t>Trang phục và nghệ thuật truyền thống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Không nghiên cứu sâu về ngôn ngữ Khmer.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Thiết kế giao diện ứng dụng di động, mô phỏng bằng Figma.</a:t>
            </a:r>
          </a:p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9612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C3DF-7A69-BA13-B44F-80B6A3DF5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HIỆN THỰC HÓA NGHIÊN CỨU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88806-03D6-E669-5A34-EFE75D69E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1 </a:t>
            </a:r>
            <a:r>
              <a:rPr lang="en-US" b="1"/>
              <a:t>Bản đồ đồng cảm – Empathy maps</a:t>
            </a:r>
            <a:endParaRPr lang="vi-VN"/>
          </a:p>
          <a:p>
            <a:endParaRPr lang="vi-V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E54318-49FC-B09B-88F9-2C07077BA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039617"/>
              </p:ext>
            </p:extLst>
          </p:nvPr>
        </p:nvGraphicFramePr>
        <p:xfrm>
          <a:off x="781664" y="2164080"/>
          <a:ext cx="7905136" cy="37561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52568">
                  <a:extLst>
                    <a:ext uri="{9D8B030D-6E8A-4147-A177-3AD203B41FA5}">
                      <a16:colId xmlns:a16="http://schemas.microsoft.com/office/drawing/2014/main" val="2080020048"/>
                    </a:ext>
                  </a:extLst>
                </a:gridCol>
                <a:gridCol w="3952568">
                  <a:extLst>
                    <a:ext uri="{9D8B030D-6E8A-4147-A177-3AD203B41FA5}">
                      <a16:colId xmlns:a16="http://schemas.microsoft.com/office/drawing/2014/main" val="2644864082"/>
                    </a:ext>
                  </a:extLst>
                </a:gridCol>
              </a:tblGrid>
              <a:tr h="2099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</a:rPr>
                        <a:t>SAY (nói)</a:t>
                      </a:r>
                      <a:endParaRPr lang="vi-VN" sz="8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SzPts val="1000"/>
                        <a:buFont typeface="Times New Roman" panose="02020603050405020304" pitchFamily="18" charset="0"/>
                        <a:buChar char="˗"/>
                        <a:tabLst>
                          <a:tab pos="457200" algn="l"/>
                        </a:tabLst>
                      </a:pPr>
                      <a:r>
                        <a:rPr lang="vi-VN" sz="900">
                          <a:effectLst/>
                        </a:rPr>
                        <a:t>Tìm thông tin về văn hóa Khmer rất khó, nhiều chỗ trên mạng sai.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SzPts val="1000"/>
                        <a:buFont typeface="Times New Roman" panose="02020603050405020304" pitchFamily="18" charset="0"/>
                        <a:buChar char="˗"/>
                        <a:tabLst>
                          <a:tab pos="457200" algn="l"/>
                        </a:tabLst>
                      </a:pPr>
                      <a:r>
                        <a:rPr lang="vi-VN" sz="900">
                          <a:effectLst/>
                        </a:rPr>
                        <a:t>Muốn có một app chia nội dung rõ ràng, dễ xem.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SzPts val="1000"/>
                        <a:buFont typeface="Times New Roman" panose="02020603050405020304" pitchFamily="18" charset="0"/>
                        <a:buChar char="˗"/>
                        <a:tabLst>
                          <a:tab pos="457200" algn="l"/>
                        </a:tabLst>
                      </a:pPr>
                      <a:r>
                        <a:rPr lang="vi-VN" sz="900">
                          <a:effectLst/>
                        </a:rPr>
                        <a:t>Đi chùa Khmer rồi mà không hiểu ý nghĩa kiến trúc.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SzPts val="1000"/>
                        <a:buFont typeface="Times New Roman" panose="02020603050405020304" pitchFamily="18" charset="0"/>
                        <a:buChar char="˗"/>
                        <a:tabLst>
                          <a:tab pos="457200" algn="l"/>
                        </a:tabLst>
                      </a:pPr>
                      <a:r>
                        <a:rPr lang="vi-VN" sz="900">
                          <a:effectLst/>
                        </a:rPr>
                        <a:t>Lễ hội Khmer nhiều nhưng ít nơi giải thích chi tiết.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SzPts val="1000"/>
                        <a:buFont typeface="Times New Roman" panose="02020603050405020304" pitchFamily="18" charset="0"/>
                        <a:buChar char="˗"/>
                        <a:tabLst>
                          <a:tab pos="457200" algn="l"/>
                        </a:tabLst>
                      </a:pPr>
                      <a:r>
                        <a:rPr lang="vi-VN" sz="900">
                          <a:effectLst/>
                        </a:rPr>
                        <a:t>Nếu có hình ảnh hoặc video thì dễ hiểu hơn.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SzPts val="1000"/>
                        <a:buFont typeface="Times New Roman" panose="02020603050405020304" pitchFamily="18" charset="0"/>
                        <a:buChar char="˗"/>
                        <a:tabLst>
                          <a:tab pos="457200" algn="l"/>
                        </a:tabLst>
                      </a:pPr>
                      <a:r>
                        <a:rPr lang="vi-VN" sz="900">
                          <a:effectLst/>
                        </a:rPr>
                        <a:t>Tôi không biết chữ Khmer, nếu có đa ngôn ngữ thì tôi có thể hiểu được.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SzPts val="1000"/>
                        <a:buFont typeface="Times New Roman" panose="02020603050405020304" pitchFamily="18" charset="0"/>
                        <a:buChar char="˗"/>
                        <a:tabLst>
                          <a:tab pos="457200" algn="l"/>
                        </a:tabLst>
                      </a:pPr>
                      <a:r>
                        <a:rPr lang="vi-VN" sz="900">
                          <a:effectLst/>
                        </a:rPr>
                        <a:t>Ứng dụng phải dễ dùng, đừng quá rối.</a:t>
                      </a:r>
                      <a:endParaRPr lang="vi-VN" sz="8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vi-VN" sz="900">
                          <a:effectLst/>
                        </a:rPr>
                        <a:t> </a:t>
                      </a:r>
                      <a:endParaRPr lang="vi-VN" sz="800">
                        <a:effectLst/>
                      </a:endParaRPr>
                    </a:p>
                    <a:p>
                      <a:pPr>
                        <a:buNone/>
                        <a:tabLst>
                          <a:tab pos="810260" algn="l"/>
                        </a:tabLst>
                      </a:pPr>
                      <a:r>
                        <a:rPr lang="vi-VN" sz="900">
                          <a:effectLst/>
                        </a:rPr>
                        <a:t> </a:t>
                      </a:r>
                      <a:endParaRPr lang="vi-V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079" marR="46079" marT="0" marB="0"/>
                </a:tc>
                <a:tc>
                  <a:txBody>
                    <a:bodyPr/>
                    <a:lstStyle/>
                    <a:p>
                      <a:pPr marL="457200" algn="ctr">
                        <a:buNone/>
                      </a:pPr>
                      <a:r>
                        <a:rPr lang="vi-VN" sz="900">
                          <a:effectLst/>
                        </a:rPr>
                        <a:t>THIN</a:t>
                      </a:r>
                      <a:r>
                        <a:rPr lang="en-US" sz="900">
                          <a:effectLst/>
                        </a:rPr>
                        <a:t>K</a:t>
                      </a:r>
                      <a:r>
                        <a:rPr lang="vi-VN" sz="900">
                          <a:effectLst/>
                        </a:rPr>
                        <a:t> (Nghĩ)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 algn="just">
                        <a:buFont typeface="Times New Roman" panose="02020603050405020304" pitchFamily="18" charset="0"/>
                        <a:buChar char="˗"/>
                        <a:tabLst>
                          <a:tab pos="377825" algn="l"/>
                        </a:tabLst>
                      </a:pPr>
                      <a:r>
                        <a:rPr lang="vi-VN" sz="900">
                          <a:effectLst/>
                        </a:rPr>
                        <a:t>Thông tin trên Google không biết cái nào đúng, cần nguồn chính thống.”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 algn="just">
                        <a:buFont typeface="Times New Roman" panose="02020603050405020304" pitchFamily="18" charset="0"/>
                        <a:buChar char="˗"/>
                        <a:tabLst>
                          <a:tab pos="377825" algn="l"/>
                        </a:tabLst>
                      </a:pPr>
                      <a:r>
                        <a:rPr lang="vi-VN" sz="900">
                          <a:effectLst/>
                        </a:rPr>
                        <a:t>Không am hiểu văn hóa Khmer nên dễ hiểu sai về nghi lễ.”</a:t>
                      </a:r>
                      <a:endParaRPr lang="vi-VN" sz="800">
                        <a:effectLst/>
                      </a:endParaRPr>
                    </a:p>
                    <a:p>
                      <a:pPr marL="457200" algn="just">
                        <a:buNone/>
                        <a:tabLst>
                          <a:tab pos="377825" algn="l"/>
                        </a:tabLst>
                      </a:pPr>
                      <a:r>
                        <a:rPr lang="vi-VN" sz="900">
                          <a:effectLst/>
                        </a:rPr>
                        <a:t>Ứng dụng mà phức tạp thì mình không dùng được.”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 algn="just">
                        <a:buFont typeface="Times New Roman" panose="02020603050405020304" pitchFamily="18" charset="0"/>
                        <a:buChar char="˗"/>
                        <a:tabLst>
                          <a:tab pos="377825" algn="l"/>
                        </a:tabLst>
                      </a:pPr>
                      <a:r>
                        <a:rPr lang="vi-VN" sz="900">
                          <a:effectLst/>
                        </a:rPr>
                        <a:t>Phải có công cụ giúp mình hiểu nhanh, không tốn thời gian.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 algn="just">
                        <a:buFont typeface="Times New Roman" panose="02020603050405020304" pitchFamily="18" charset="0"/>
                        <a:buChar char="˗"/>
                        <a:tabLst>
                          <a:tab pos="377825" algn="l"/>
                        </a:tabLst>
                      </a:pPr>
                      <a:r>
                        <a:rPr lang="vi-VN" sz="900">
                          <a:effectLst/>
                        </a:rPr>
                        <a:t>Hiểu văn hóa Khmer sẽ giúp mình tôn trọng cộng đồng hơn.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 algn="just">
                        <a:buFont typeface="Times New Roman" panose="02020603050405020304" pitchFamily="18" charset="0"/>
                        <a:buChar char="˗"/>
                        <a:tabLst>
                          <a:tab pos="377825" algn="l"/>
                        </a:tabLst>
                      </a:pPr>
                      <a:r>
                        <a:rPr lang="vi-VN" sz="900">
                          <a:effectLst/>
                        </a:rPr>
                        <a:t>Không phải lúc nào cũng có người để hỏi, app phải tiện để tự học.</a:t>
                      </a:r>
                      <a:endParaRPr lang="vi-VN" sz="800">
                        <a:effectLst/>
                      </a:endParaRPr>
                    </a:p>
                    <a:p>
                      <a:pPr>
                        <a:buNone/>
                        <a:tabLst>
                          <a:tab pos="810260" algn="l"/>
                        </a:tabLst>
                      </a:pPr>
                      <a:r>
                        <a:rPr lang="vi-VN" sz="900">
                          <a:effectLst/>
                        </a:rPr>
                        <a:t> </a:t>
                      </a:r>
                      <a:endParaRPr lang="vi-V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079" marR="46079" marT="0" marB="0"/>
                </a:tc>
                <a:extLst>
                  <a:ext uri="{0D108BD9-81ED-4DB2-BD59-A6C34878D82A}">
                    <a16:rowId xmlns:a16="http://schemas.microsoft.com/office/drawing/2014/main" val="2877002480"/>
                  </a:ext>
                </a:extLst>
              </a:tr>
              <a:tr h="1657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</a:rPr>
                        <a:t>DOES (Hành độ ng)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Font typeface="Times New Roman" panose="02020603050405020304" pitchFamily="18" charset="0"/>
                        <a:buChar char="˗"/>
                      </a:pPr>
                      <a:r>
                        <a:rPr lang="vi-VN" sz="900">
                          <a:effectLst/>
                        </a:rPr>
                        <a:t>Tìm thông tin Khmer trên Google, Facebook, YouTube.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Font typeface="Times New Roman" panose="02020603050405020304" pitchFamily="18" charset="0"/>
                        <a:buChar char="˗"/>
                      </a:pPr>
                      <a:r>
                        <a:rPr lang="vi-VN" sz="900">
                          <a:effectLst/>
                        </a:rPr>
                        <a:t>Hỏi người quen là người Khmer về lễ hội và nghi lễ.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Font typeface="Times New Roman" panose="02020603050405020304" pitchFamily="18" charset="0"/>
                        <a:buChar char="˗"/>
                      </a:pPr>
                      <a:r>
                        <a:rPr lang="vi-VN" sz="900">
                          <a:effectLst/>
                        </a:rPr>
                        <a:t>Tham quan chùa nhưng chỉ đi xem, không hiểu kiến trúc.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Font typeface="Times New Roman" panose="02020603050405020304" pitchFamily="18" charset="0"/>
                        <a:buChar char="˗"/>
                      </a:pPr>
                      <a:r>
                        <a:rPr lang="vi-VN" sz="900">
                          <a:effectLst/>
                        </a:rPr>
                        <a:t>Xem clip về lễ hội trên TikTok nhưng thiếu nội dung chuyên sâu.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Font typeface="Times New Roman" panose="02020603050405020304" pitchFamily="18" charset="0"/>
                        <a:buChar char="˗"/>
                      </a:pPr>
                      <a:r>
                        <a:rPr lang="vi-VN" sz="900">
                          <a:effectLst/>
                        </a:rPr>
                        <a:t>Lưu hình ảnh, ghi chú nhưng không có hệ thống rõ ràng.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Font typeface="Times New Roman" panose="02020603050405020304" pitchFamily="18" charset="0"/>
                        <a:buChar char="˗"/>
                      </a:pPr>
                      <a:r>
                        <a:rPr lang="vi-VN" sz="900">
                          <a:effectLst/>
                        </a:rPr>
                        <a:t>Tra cứu thông tin rời rạc khi có bài tập hoặc khi đi du lịch</a:t>
                      </a:r>
                      <a:endParaRPr lang="vi-VN" sz="80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vi-VN" sz="900">
                          <a:effectLst/>
                        </a:rPr>
                        <a:t> </a:t>
                      </a:r>
                      <a:endParaRPr lang="vi-VN" sz="800">
                        <a:effectLst/>
                      </a:endParaRPr>
                    </a:p>
                    <a:p>
                      <a:pPr>
                        <a:buNone/>
                        <a:tabLst>
                          <a:tab pos="810260" algn="l"/>
                        </a:tabLst>
                      </a:pPr>
                      <a:r>
                        <a:rPr lang="vi-VN" sz="900">
                          <a:effectLst/>
                        </a:rPr>
                        <a:t> </a:t>
                      </a:r>
                      <a:endParaRPr lang="vi-V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079" marR="46079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</a:rPr>
                        <a:t>FEELS (Cả m thấ y)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Font typeface="Times New Roman" panose="02020603050405020304" pitchFamily="18" charset="0"/>
                        <a:buChar char="˗"/>
                      </a:pPr>
                      <a:r>
                        <a:rPr lang="vi-VN" sz="900">
                          <a:effectLst/>
                        </a:rPr>
                        <a:t>Cảm thấy bối rối khi không hiểu các nghi lễ Khmer.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Font typeface="Times New Roman" panose="02020603050405020304" pitchFamily="18" charset="0"/>
                        <a:buChar char="˗"/>
                      </a:pPr>
                      <a:r>
                        <a:rPr lang="vi-VN" sz="900">
                          <a:effectLst/>
                        </a:rPr>
                        <a:t>Lo lắng khi thông tin trên mạng có thể không chính xác.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Font typeface="Times New Roman" panose="02020603050405020304" pitchFamily="18" charset="0"/>
                        <a:buChar char="˗"/>
                      </a:pPr>
                      <a:r>
                        <a:rPr lang="vi-VN" sz="900">
                          <a:effectLst/>
                        </a:rPr>
                        <a:t>Tò mò và muốn khám phá nhiều hơn về văn hóa Khmer.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Font typeface="Times New Roman" panose="02020603050405020304" pitchFamily="18" charset="0"/>
                        <a:buChar char="˗"/>
                      </a:pPr>
                      <a:r>
                        <a:rPr lang="vi-VN" sz="900">
                          <a:effectLst/>
                        </a:rPr>
                        <a:t>Đôi lúc cảm thấy ngại hỏi người dân địa phương vì sợ làm phiền.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Font typeface="Times New Roman" panose="02020603050405020304" pitchFamily="18" charset="0"/>
                        <a:buChar char="˗"/>
                      </a:pPr>
                      <a:r>
                        <a:rPr lang="vi-VN" sz="900">
                          <a:effectLst/>
                        </a:rPr>
                        <a:t>Hứng thú khi có hình ảnh, video minh họa dễ hiểu.</a:t>
                      </a:r>
                      <a:endParaRPr lang="vi-VN" sz="800">
                        <a:effectLst/>
                      </a:endParaRPr>
                    </a:p>
                    <a:p>
                      <a:pPr marL="342900" lvl="0" indent="-342900">
                        <a:buFont typeface="Times New Roman" panose="02020603050405020304" pitchFamily="18" charset="0"/>
                        <a:buChar char="˗"/>
                      </a:pPr>
                      <a:r>
                        <a:rPr lang="vi-VN" sz="900">
                          <a:effectLst/>
                        </a:rPr>
                        <a:t>Mong đợi một ứng dụng tiện lợi – rõ ràng – dễ dùng cho mọi lứa tuổi.</a:t>
                      </a:r>
                      <a:endParaRPr lang="vi-VN" sz="8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vi-VN" sz="900">
                          <a:effectLst/>
                        </a:rPr>
                        <a:t> </a:t>
                      </a:r>
                      <a:endParaRPr lang="vi-VN" sz="800">
                        <a:effectLst/>
                      </a:endParaRPr>
                    </a:p>
                    <a:p>
                      <a:pPr algn="ctr">
                        <a:buNone/>
                        <a:tabLst>
                          <a:tab pos="810260" algn="l"/>
                        </a:tabLst>
                      </a:pPr>
                      <a:r>
                        <a:rPr lang="vi-VN" sz="900">
                          <a:effectLst/>
                        </a:rPr>
                        <a:t> </a:t>
                      </a:r>
                      <a:endParaRPr lang="vi-VN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079" marR="46079" marT="0" marB="0"/>
                </a:tc>
                <a:extLst>
                  <a:ext uri="{0D108BD9-81ED-4DB2-BD59-A6C34878D82A}">
                    <a16:rowId xmlns:a16="http://schemas.microsoft.com/office/drawing/2014/main" val="300510574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DA5EE69-D21A-3DB3-2790-F64B4BC4A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98832" y="1393825"/>
            <a:ext cx="1881622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4718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5F7A7-5E22-EDFD-53CF-6CE4EB4F1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A4639-C856-55D5-1E12-1F6C31AC5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2 </a:t>
            </a:r>
            <a:r>
              <a:rPr lang="en-US" b="1"/>
              <a:t>Chân dung người dùng – Personas</a:t>
            </a:r>
            <a:endParaRPr lang="vi-VN"/>
          </a:p>
          <a:p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6DA90-5C93-7534-C0F7-B8C201924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467" y="2141331"/>
            <a:ext cx="6951066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4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E062C-1AFD-D530-FA7D-A83CE77D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D5E97-578A-E8D7-48CB-562BDBE83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1076632"/>
            <a:ext cx="8967019" cy="504953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vi-VN">
                <a:latin typeface="+mj-lt"/>
              </a:rPr>
              <a:t>3 Điểm đau (Pain Points)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Qua phỏng vấn sinh viên, người Khmer, người Việt và du khách, nghiên cứu xác định 4 điểm đau chính: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Thiếu thông tin chuẩn xác: Nội dung về văn hóa Khmer trên Internet phân tán, thiếu kiểm chứng → người dùng mất niềm tin, dễ hiểu sai.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Rào cản ngôn ngữ – thuật ngữ: Nhiều thuật ngữ Khmer và Phật giáo Nam Tông khó hiểu → người mới tiếp cận dễ nản.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Thiếu trải nghiệm trực quan: Chủ yếu là chữ, ít hình ảnh – video → khó hình dung kiến trúc, lễ hội, nghi lễ.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Thiếu nền tảng chuyên biệt: Không có nơi theo dõi chùa, lễ hội, thời gian – địa điểm → bỏ lỡ trải nghiệm văn hóa.</a:t>
            </a:r>
          </a:p>
          <a:p>
            <a:pPr marL="0" indent="0" algn="just">
              <a:buNone/>
            </a:pPr>
            <a:r>
              <a:rPr lang="vi-VN">
                <a:latin typeface="+mj-lt"/>
              </a:rPr>
              <a:t>⇒ Hàm ý thiết kế: Cần một ứng dụng chuyên biệt, thông tin chuẩn hóa, song ngữ, trực quan, tích hợp bản đồ chùa và lịch lễ hội.</a:t>
            </a:r>
          </a:p>
          <a:p>
            <a:pPr algn="just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3085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5F48-9132-596F-ACC9-4771B34C6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KẾT QUẢ NGHIÊN CỨU</a:t>
            </a:r>
            <a:endParaRPr lang="vi-VN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8333A15-FE7F-D604-E5C3-14616D66E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55" y="1044873"/>
            <a:ext cx="511769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vi-VN">
                <a:latin typeface="+mj-lt"/>
              </a:rPr>
              <a:t>1 Kết quả thiết kế giao diện và chức năng</a:t>
            </a:r>
            <a:endParaRPr kumimoji="0" lang="vi-VN" altLang="vi-V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vi-V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</a:rPr>
              <a:t>* Trang đăng nhập đăng ký:</a:t>
            </a:r>
            <a:endParaRPr kumimoji="0" lang="vi-VN" altLang="vi-V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vi-VN" altLang="vi-V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0BEF8674-C5A7-02D9-7B66-3E2E41CD2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039" y="1612912"/>
            <a:ext cx="5663381" cy="456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408FF64-F74F-021D-50B4-DCDAA6F62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2102" y="6406381"/>
            <a:ext cx="1049584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801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84A51-D6EA-5B0E-B8DF-E6BC0816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DC189-653E-64B2-873D-53112607A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212" y="1091587"/>
            <a:ext cx="8229600" cy="4710111"/>
          </a:xfrm>
        </p:spPr>
        <p:txBody>
          <a:bodyPr/>
          <a:lstStyle/>
          <a:p>
            <a:r>
              <a:rPr lang="vi-VN"/>
              <a:t>- Trang chủ</a:t>
            </a:r>
          </a:p>
        </p:txBody>
      </p:sp>
      <p:pic>
        <p:nvPicPr>
          <p:cNvPr id="3074" name="Picture 1">
            <a:extLst>
              <a:ext uri="{FF2B5EF4-FFF2-40B4-BE49-F238E27FC236}">
                <a16:creationId xmlns:a16="http://schemas.microsoft.com/office/drawing/2014/main" id="{2E4542ED-C9EF-E1EF-3B91-6949B173D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932" y="1505923"/>
            <a:ext cx="2916135" cy="47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4625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AD7E-BB71-3B94-7B0C-6216A760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01A06-D634-CEF5-1907-8147EFC88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6633"/>
            <a:ext cx="9896168" cy="6322706"/>
          </a:xfrm>
        </p:spPr>
        <p:txBody>
          <a:bodyPr/>
          <a:lstStyle/>
          <a:p>
            <a:r>
              <a:rPr lang="vi-VN"/>
              <a:t>* Màn hình văn hóa khmer chữ viết khmer</a:t>
            </a:r>
          </a:p>
          <a:p>
            <a:endParaRPr lang="vi-VN"/>
          </a:p>
        </p:txBody>
      </p:sp>
      <p:pic>
        <p:nvPicPr>
          <p:cNvPr id="4099" name="Picture 1">
            <a:extLst>
              <a:ext uri="{FF2B5EF4-FFF2-40B4-BE49-F238E27FC236}">
                <a16:creationId xmlns:a16="http://schemas.microsoft.com/office/drawing/2014/main" id="{DCAA6610-1D13-AB23-DEA5-EAD36AD86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281" y="1662984"/>
            <a:ext cx="4524964" cy="4501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3244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4764-0BAB-673A-9D5F-DC48C1A7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6FA11-5730-3B91-F4CD-538F85F00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489588"/>
            <a:ext cx="10309122" cy="6368538"/>
          </a:xfrm>
        </p:spPr>
        <p:txBody>
          <a:bodyPr/>
          <a:lstStyle/>
          <a:p>
            <a:r>
              <a:rPr lang="en-US"/>
              <a:t>* Màn hình khám phá kiến trúc chùa khmer</a:t>
            </a:r>
            <a:endParaRPr lang="vi-VN"/>
          </a:p>
          <a:p>
            <a:endParaRPr lang="vi-VN"/>
          </a:p>
        </p:txBody>
      </p:sp>
      <p:pic>
        <p:nvPicPr>
          <p:cNvPr id="5122" name="Picture 1">
            <a:extLst>
              <a:ext uri="{FF2B5EF4-FFF2-40B4-BE49-F238E27FC236}">
                <a16:creationId xmlns:a16="http://schemas.microsoft.com/office/drawing/2014/main" id="{3A49D2F4-0651-2CD9-04DF-14E127AAC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220" y="1928455"/>
            <a:ext cx="4389437" cy="4251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7986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CFFFE-F638-5913-14B9-F0910DAC2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KẾT LUẬN &amp; HƯỚNG PHÁT TRIỂN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3D88B-2DDC-151E-229E-4A127DC7A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68362"/>
            <a:ext cx="8495071" cy="485780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vi-VN" b="1"/>
              <a:t>1. Kết luận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Nghiên cứu và thiết kế ứng dụng tìm hiểu văn hóa – tín ngưỡng – tôn giáo Khmer Nam Bộ theo quy trình lấy người dùng làm trung tâm.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Xác định rõ nhu cầu, hành vi và điểm đau của người dùng thông qua persona, user journey và phỏng vấn.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Kết quả đạt được: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vi-VN">
                <a:latin typeface="+mj-lt"/>
              </a:rPr>
              <a:t>Hệ thống nội dung văn hóa Khmer có cấu trúc, dễ tiếp cận.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vi-VN">
                <a:latin typeface="+mj-lt"/>
              </a:rPr>
              <a:t>Giao diện trực quan, thân thiện, nguyên mẫu từ thấp đến cao.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vi-VN">
                <a:latin typeface="+mj-lt"/>
              </a:rPr>
              <a:t>Đánh giá khả năng sử dụng bằng Heuristic Evaluation.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Đề tài góp phần bảo tồn, lan tỏa giá trị văn hóa Khmer và mở ra hướng ứng dụng UX/UI trong lĩnh vực văn hóa dân tộc.</a:t>
            </a:r>
          </a:p>
          <a:p>
            <a:pPr algn="just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632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0D746-0FB9-DAFC-6592-77B576B8A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19F59-EF4B-52A5-6B47-A1D22126F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213" y="1091382"/>
            <a:ext cx="8672051" cy="50347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vi-VN" b="1">
                <a:latin typeface="+mj-lt"/>
              </a:rPr>
              <a:t>2. Hướng phát triển</a:t>
            </a:r>
          </a:p>
          <a:p>
            <a:pPr lvl="0"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Mở rộng nội dung dữ liệu về các loại hình nghệ thuật, lễ hội, nghi lễ và tín ngưỡng Khmer ở nhiều địa phương khác nhau.</a:t>
            </a:r>
          </a:p>
          <a:p>
            <a:pPr lvl="0"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Phát triển chức năng tương tác nâng cao như học – thi trắc nghiệm, trò chơi nhẹ về kiến thức văn hóa Khmer để tăng tính trải nghiệm.</a:t>
            </a:r>
          </a:p>
          <a:p>
            <a:pPr lvl="0"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Tích hợp bản đồ số và lịch sự kiện lễ hội Khmer theo thời gian thực.</a:t>
            </a:r>
          </a:p>
          <a:p>
            <a:pPr lvl="0"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Tiến hành thử nghiệm người dùng trên quy mô lớn hơn để đánh giá và cải thiện trải nghiệm sử dụng.</a:t>
            </a:r>
          </a:p>
          <a:p>
            <a:pPr lvl="0" algn="just">
              <a:buFont typeface="Wingdings" panose="05000000000000000000" pitchFamily="2" charset="2"/>
              <a:buChar char="ü"/>
            </a:pPr>
            <a:r>
              <a:rPr lang="vi-VN">
                <a:latin typeface="+mj-lt"/>
              </a:rPr>
              <a:t>Phát triển ứng dụng thành sản phẩm hoàn chỉnh có khả năng triển khai thực tế trên các nền tảng di động.</a:t>
            </a:r>
          </a:p>
          <a:p>
            <a:endParaRPr lang="vi-VN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2216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Tài liệu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" y="1310640"/>
            <a:ext cx="850392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Alan Dix, Janet Finlay, Gregory Abowd, Russell Beale (2004), </a:t>
            </a:r>
            <a:r>
              <a:rPr lang="vi-VN" i="1">
                <a:latin typeface="Times New Roman" panose="02020603050405020304" pitchFamily="18" charset="0"/>
                <a:cs typeface="Times New Roman" panose="02020603050405020304" pitchFamily="18" charset="0"/>
              </a:rPr>
              <a:t>Human–Computer Interaction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Education.</a:t>
            </a: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Don Norman (2013), </a:t>
            </a:r>
            <a:r>
              <a:rPr lang="vi-VN" i="1">
                <a:latin typeface="Times New Roman" panose="02020603050405020304" pitchFamily="18" charset="0"/>
                <a:cs typeface="Times New Roman" panose="02020603050405020304" pitchFamily="18" charset="0"/>
              </a:rPr>
              <a:t>The Design of Everyday Things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, Basic Books.</a:t>
            </a:r>
          </a:p>
          <a:p>
            <a:pPr marL="0" indent="0" algn="just">
              <a:buNone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[3]Bộ Văn hóa, Thể thao và Du lịch (2018), </a:t>
            </a:r>
            <a:r>
              <a:rPr lang="vi-VN" i="1">
                <a:latin typeface="Times New Roman" panose="02020603050405020304" pitchFamily="18" charset="0"/>
                <a:cs typeface="Times New Roman" panose="02020603050405020304" pitchFamily="18" charset="0"/>
              </a:rPr>
              <a:t>Văn hóa Khmer Nam Bộ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, NXB Văn hóa Dân tộc.</a:t>
            </a:r>
          </a:p>
          <a:p>
            <a:pPr marL="0" indent="0" algn="just">
              <a:buNone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[4]Trần Hồng Liên (2016), </a:t>
            </a:r>
            <a:r>
              <a:rPr lang="vi-VN" i="1">
                <a:latin typeface="Times New Roman" panose="02020603050405020304" pitchFamily="18" charset="0"/>
                <a:cs typeface="Times New Roman" panose="02020603050405020304" pitchFamily="18" charset="0"/>
              </a:rPr>
              <a:t>Tín ngưỡng và tôn giáo của người Khmer Nam Bộ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, NXB Khoa học Xã hội.</a:t>
            </a: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IDEO (2015), </a:t>
            </a:r>
            <a:r>
              <a:rPr lang="vi-VN" i="1">
                <a:latin typeface="Times New Roman" panose="02020603050405020304" pitchFamily="18" charset="0"/>
                <a:cs typeface="Times New Roman" panose="02020603050405020304" pitchFamily="18" charset="0"/>
              </a:rPr>
              <a:t>Human-Centered Design Toolkit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, IDEO.org.</a:t>
            </a:r>
          </a:p>
          <a:p>
            <a:pPr marL="0" indent="0" algn="just">
              <a:buNone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[6]  Nguyễn Văn Huy (2020), </a:t>
            </a:r>
            <a:r>
              <a:rPr lang="vi-VN" i="1">
                <a:latin typeface="Times New Roman" panose="02020603050405020304" pitchFamily="18" charset="0"/>
                <a:cs typeface="Times New Roman" panose="02020603050405020304" pitchFamily="18" charset="0"/>
              </a:rPr>
              <a:t>Bảo tồn và phát huy giá trị văn hóa các dân tộc thiểu số ở Việt Nam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, NXB Chính trị Quốc gia Sự thật.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313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1529</Words>
  <Application>Microsoft Office PowerPoint</Application>
  <PresentationFormat>On-screen Show (4:3)</PresentationFormat>
  <Paragraphs>118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Office Theme</vt:lpstr>
      <vt:lpstr>THỰC TẬP ĐỒ ÁN CHUYÊN NGÀNH HỌC KỲ I, NĂM HỌC 2025-2026  ĐỀ TÀI:THIẾT KẾ ỨNG DỤNG HỖ TRỢ NÂNG CAO KIẾN THỨC VĂN HÓA – TÍN NGƯỠNG – TÔN GIÁO CỦA NGƯỜI KHMER NAM BỘ THEO QUY TRÌNH THIẾT KẾ LẤY NGƯỜI DÙNG LÀM TRUNG TÂM </vt:lpstr>
      <vt:lpstr>NỘI DUNG</vt:lpstr>
      <vt:lpstr> Mở đầu</vt:lpstr>
      <vt:lpstr>Mở đầu</vt:lpstr>
      <vt:lpstr>PowerPoint Presentation</vt:lpstr>
      <vt:lpstr>PowerPoint Presentation</vt:lpstr>
      <vt:lpstr>HIỆN THỰC HÓA NGHIÊN CỨU</vt:lpstr>
      <vt:lpstr>PowerPoint Presentation</vt:lpstr>
      <vt:lpstr>PowerPoint Presentation</vt:lpstr>
      <vt:lpstr>KẾT QUẢ NGHIÊN CỨU</vt:lpstr>
      <vt:lpstr>PowerPoint Presentation</vt:lpstr>
      <vt:lpstr>PowerPoint Presentation</vt:lpstr>
      <vt:lpstr>PowerPoint Presentation</vt:lpstr>
      <vt:lpstr>KẾT LUẬN &amp; HƯỚNG PHÁT TRIỂN</vt:lpstr>
      <vt:lpstr>PowerPoint Presentation</vt:lpstr>
      <vt:lpstr>Tài liệu tham khảo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QUẢN LÝ DỰ ÁN PHẦN MỀM</dc:title>
  <dc:subject/>
  <dc:creator>Khac Quoc</dc:creator>
  <cp:keywords/>
  <dc:description>generated using python-pptx</dc:description>
  <cp:lastModifiedBy>Windows 10</cp:lastModifiedBy>
  <cp:revision>10</cp:revision>
  <dcterms:created xsi:type="dcterms:W3CDTF">2013-01-27T09:14:16Z</dcterms:created>
  <dcterms:modified xsi:type="dcterms:W3CDTF">2025-12-29T12:58:38Z</dcterms:modified>
  <cp:category/>
</cp:coreProperties>
</file>